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96" r:id="rId2"/>
    <p:sldId id="339" r:id="rId3"/>
    <p:sldId id="419" r:id="rId4"/>
    <p:sldId id="456" r:id="rId5"/>
    <p:sldId id="453" r:id="rId6"/>
    <p:sldId id="434" r:id="rId7"/>
    <p:sldId id="420" r:id="rId8"/>
    <p:sldId id="459" r:id="rId9"/>
    <p:sldId id="457" r:id="rId10"/>
    <p:sldId id="454" r:id="rId11"/>
    <p:sldId id="448" r:id="rId12"/>
    <p:sldId id="450" r:id="rId13"/>
    <p:sldId id="460" r:id="rId14"/>
    <p:sldId id="446" r:id="rId15"/>
    <p:sldId id="449" r:id="rId16"/>
    <p:sldId id="455" r:id="rId17"/>
    <p:sldId id="34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UI" initials="C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  <a:srgbClr val="1B6AA3"/>
    <a:srgbClr val="0F6FC6"/>
    <a:srgbClr val="0000CC"/>
    <a:srgbClr val="009DD9"/>
    <a:srgbClr val="2F4B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6188" autoAdjust="0"/>
  </p:normalViewPr>
  <p:slideViewPr>
    <p:cSldViewPr snapToGrid="0" showGuides="1">
      <p:cViewPr varScale="1">
        <p:scale>
          <a:sx n="54" d="100"/>
          <a:sy n="54" d="100"/>
        </p:scale>
        <p:origin x="1148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28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993CE7-0ABB-4D5C-91F8-04ED64636C4B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14AD9-3015-4A74-890B-D8A3E0EA2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6B5066-1B40-4451-88FA-D36B2DB95695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1833F2-1FF2-46AD-9558-8A772E05FF0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0157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-12192" y="6053328"/>
            <a:ext cx="2999232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ctangle 10"/>
          <p:cNvSpPr/>
          <p:nvPr/>
        </p:nvSpPr>
        <p:spPr>
          <a:xfrm>
            <a:off x="3145536" y="6044184"/>
            <a:ext cx="90464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149600" y="4038600"/>
            <a:ext cx="8636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01600" y="6068699"/>
            <a:ext cx="27432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505415D9-1936-41C9-A1E0-6C683B298A91}" type="datetime1">
              <a:rPr lang="de-AT" smtClean="0"/>
              <a:t>30.10.2025</a:t>
            </a:fld>
            <a:endParaRPr lang="de-AT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80524" y="236539"/>
            <a:ext cx="78232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de-AT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47D1D47-F002-4997-8673-3C2F20FE47EE}" type="slidenum">
              <a:rPr lang="de-AT" smtClean="0"/>
              <a:t>‹#›</a:t>
            </a:fld>
            <a:endParaRPr lang="de-AT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864" y="228600"/>
            <a:ext cx="108712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64CDB-9339-4236-97FE-EF9ADE7C7746}" type="datetime1">
              <a:rPr lang="de-AT" smtClean="0"/>
              <a:t>30.10.2025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t>‹#›</a:t>
            </a:fld>
            <a:endParaRPr lang="de-AT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1" y="2743200"/>
            <a:ext cx="9497484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A14F1-10FF-4036-8489-6A75C498D7F8}" type="datetime1">
              <a:rPr lang="de-AT" smtClean="0"/>
              <a:t>30.10.2025</a:t>
            </a:fld>
            <a:endParaRPr lang="de-AT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7272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t>‹#›</a:t>
            </a:fld>
            <a:endParaRPr lang="de-AT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de-AT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1F9CD09-A87F-41BD-878B-62ADDBEDE207}" type="datetime1">
              <a:rPr lang="de-AT" smtClean="0"/>
              <a:t>30.10.2025</a:t>
            </a:fld>
            <a:endParaRPr lang="de-A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47D1D47-F002-4997-8673-3C2F20FE47EE}" type="slidenum">
              <a:rPr lang="de-AT" smtClean="0"/>
              <a:t>‹#›</a:t>
            </a:fld>
            <a:endParaRPr lang="de-AT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de-A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8D9B8A75-8A93-42F7-83C2-E91CAA32AD2D}" type="datetime1">
              <a:rPr lang="de-AT" smtClean="0"/>
              <a:t>30.10.2025</a:t>
            </a:fld>
            <a:endParaRPr lang="de-AT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47D1D47-F002-4997-8673-3C2F20FE47EE}" type="slidenum">
              <a:rPr lang="de-AT" smtClean="0"/>
              <a:t>‹#›</a:t>
            </a:fld>
            <a:endParaRPr lang="de-AT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de-AT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8DDC-8E8A-40F2-B290-DE40DC5435A2}" type="datetime1">
              <a:rPr lang="de-AT" smtClean="0"/>
              <a:t>30.10.2025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AFAC3-B007-45E7-838F-EB3347319F49}" type="datetime1">
              <a:rPr lang="de-AT" smtClean="0"/>
              <a:t>30.10.2025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47D1D47-F002-4997-8673-3C2F20FE47EE}" type="slidenum">
              <a:rPr lang="de-AT" smtClean="0"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DCF27-D490-4116-BAF6-8B3D1382E7DE}" type="datetime1">
              <a:rPr lang="de-AT" smtClean="0"/>
              <a:t>30.10.2025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t>‹#›</a:t>
            </a:fld>
            <a:endParaRPr lang="de-AT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12800" y="1752600"/>
            <a:ext cx="21336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12192" y="4572000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-12192" y="4663440"/>
            <a:ext cx="195072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2060448" y="4654296"/>
            <a:ext cx="10131552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930400" y="0"/>
            <a:ext cx="134112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31200" y="6248401"/>
            <a:ext cx="3556000" cy="365125"/>
          </a:xfrm>
        </p:spPr>
        <p:txBody>
          <a:bodyPr rtlCol="0"/>
          <a:lstStyle/>
          <a:p>
            <a:fld id="{A1535E6D-1964-4096-8B13-4E6AE64D3296}" type="datetime1">
              <a:rPr lang="de-AT" smtClean="0"/>
              <a:t>30.10.2025</a:t>
            </a:fld>
            <a:endParaRPr lang="de-AT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9304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C47D1D47-F002-4997-8673-3C2F20FE47EE}" type="slidenum">
              <a:rPr lang="de-AT" smtClean="0"/>
              <a:t>‹#›</a:t>
            </a:fld>
            <a:endParaRPr lang="de-AT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2133600" y="6248207"/>
            <a:ext cx="6096000" cy="365125"/>
          </a:xfrm>
        </p:spPr>
        <p:txBody>
          <a:bodyPr rtlCol="0"/>
          <a:lstStyle/>
          <a:p>
            <a:endParaRPr lang="de-A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E2B5D-3138-4DEE-89D7-9496AF4A15A2}" type="datetime1">
              <a:rPr lang="de-AT" smtClean="0"/>
              <a:t>30.10.2025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D1D47-F002-4997-8673-3C2F20FE47EE}" type="slidenum">
              <a:rPr lang="de-AT" smtClean="0"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01"/>
            <a:ext cx="27432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03"/>
            <a:ext cx="2946400" cy="365125"/>
          </a:xfrm>
        </p:spPr>
        <p:txBody>
          <a:bodyPr/>
          <a:lstStyle/>
          <a:p>
            <a:fld id="{B360EDE9-3F39-4A22-851C-76D56593C099}" type="datetime1">
              <a:rPr lang="de-AT" smtClean="0"/>
              <a:t>30.10.2025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2" y="6248208"/>
            <a:ext cx="7431311" cy="365125"/>
          </a:xfrm>
        </p:spPr>
        <p:txBody>
          <a:bodyPr/>
          <a:lstStyle/>
          <a:p>
            <a:endParaRPr lang="de-AT"/>
          </a:p>
        </p:txBody>
      </p:sp>
      <p:sp>
        <p:nvSpPr>
          <p:cNvPr id="7" name="Rectangle 6"/>
          <p:cNvSpPr/>
          <p:nvPr/>
        </p:nvSpPr>
        <p:spPr bwMode="white">
          <a:xfrm>
            <a:off x="8128424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8189384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8189384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C47D1D47-F002-4997-8673-3C2F20FE47EE}" type="slidenum">
              <a:rPr lang="de-AT" smtClean="0"/>
              <a:t>‹#›</a:t>
            </a:fld>
            <a:endParaRPr lang="de-AT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812800" y="228600"/>
            <a:ext cx="108712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816864" y="1600200"/>
            <a:ext cx="108712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128000" y="6248401"/>
            <a:ext cx="3556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35C776C6-E6A6-42FF-8A2F-70CA0241300E}" type="datetime1">
              <a:rPr lang="de-AT" smtClean="0"/>
              <a:t>30.10.2025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812801" y="6248207"/>
            <a:ext cx="7228111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de-AT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12192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787400" y="1280160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7112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t>‹#›</a:t>
            </a:fld>
            <a:endParaRPr lang="de-A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 panose="05000000000000000000" pitchFamily="2" charset="2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 panose="05020102010507070707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 panose="05000000000000000000" pitchFamily="2" charset="2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 panose="05000000000000000000" pitchFamily="2" charset="2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 panose="05000000000000000000" pitchFamily="2" charset="2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 panose="05000000000000000000" pitchFamily="2" charset="2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 panose="05000000000000000000" pitchFamily="2" charset="2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 panose="05000000000000000000" pitchFamily="2" charset="2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 panose="05000000000000000000" pitchFamily="2" charset="2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ijrpr.com/uploads/V6ISSUE4/IJRPR43701.pdf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510.03421" TargetMode="External"/><Relationship Id="rId5" Type="http://schemas.openxmlformats.org/officeDocument/2006/relationships/hyperlink" Target="https://pubmed.ncbi.nlm.nih.gov/40001897/" TargetMode="External"/><Relationship Id="rId4" Type="http://schemas.openxmlformats.org/officeDocument/2006/relationships/hyperlink" Target="https://link.springer.com/article/10.1007/s44196-025-00956-8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52651" y="6050037"/>
            <a:ext cx="8608423" cy="685800"/>
          </a:xfrm>
        </p:spPr>
        <p:txBody>
          <a:bodyPr>
            <a:normAutofit/>
          </a:bodyPr>
          <a:lstStyle/>
          <a:p>
            <a:pPr algn="ctr"/>
            <a:r>
              <a:rPr lang="de-AT" sz="1900" b="1" dirty="0"/>
              <a:t>Computing and Technology Department, IQRA University Islamabad – H9 Campus - Pakistan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130" y="210157"/>
            <a:ext cx="11682944" cy="6146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Huntington's Disease Detection and Severity Grading using Federated Learning and Agentic AI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Umama Qayum (37499)</a:t>
            </a:r>
          </a:p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Mahnoor Riaz (37066)</a:t>
            </a:r>
          </a:p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Hifsa Shahid (37046)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b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 Ma`am Madiha Jaffar.</a:t>
            </a:r>
          </a:p>
          <a:p>
            <a:pPr algn="ctr"/>
            <a:endParaRPr lang="en-US" sz="8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48" y="6121015"/>
            <a:ext cx="1946788" cy="5702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400" y="161555"/>
            <a:ext cx="10871200" cy="990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>
                <a:latin typeface="Calibri" panose="020F0502020204030204"/>
              </a:rPr>
              <a:t>2</a:t>
            </a:fld>
            <a:endParaRPr lang="de-AT"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55406" y="1685128"/>
            <a:ext cx="8541464" cy="363219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 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TOOLS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PROPOSED METHODOLOGY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CONTRIBUTION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FUTURE WORK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21373913">
            <a:off x="8442204" y="4678432"/>
            <a:ext cx="3691394" cy="1898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1114902"/>
            <a:ext cx="1946788" cy="5702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48198" y="207767"/>
            <a:ext cx="10871200" cy="990600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>
                <a:latin typeface="Calibri" panose="020F0502020204030204"/>
              </a:rPr>
              <a:t>3</a:t>
            </a:fld>
            <a:endParaRPr lang="de-AT">
              <a:latin typeface="Calibri" panose="020F050202020403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1114902"/>
            <a:ext cx="1946788" cy="570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3703" y="1805049"/>
            <a:ext cx="10784115" cy="452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Huntington’s Disease (HD) is an inherited neurodegenerative disorder caused by CAG(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Cytosine–Adenine–Guanine) </a:t>
            </a:r>
            <a:r>
              <a:rPr lang="en-US" sz="3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repeat expansion in the HTT gene (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Huntingtin gene)</a:t>
            </a:r>
            <a:r>
              <a:rPr lang="en-US" sz="3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leads to severe impairments in movement, behavior, and cognition due to progressive brain damage.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is vital for timely intervention and slowing disease progression.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48198" y="207767"/>
            <a:ext cx="10871200" cy="990600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(Cont.)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>
                <a:latin typeface="Calibri" panose="020F0502020204030204"/>
              </a:rPr>
              <a:t>4</a:t>
            </a:fld>
            <a:endParaRPr lang="de-AT">
              <a:latin typeface="Calibri" panose="020F050202020403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1114902"/>
            <a:ext cx="1946788" cy="57022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11200" y="2105502"/>
            <a:ext cx="1022465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 (FL):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privacy-preserving technique that enables multiple institutions to collaboratively train a shared model without sharing their raw data.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Agentic AI: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intelligent system capable of autonomous decision-making, learning, and adapting to achieve specific goals.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11200" y="526098"/>
            <a:ext cx="11149581" cy="990600"/>
          </a:xfrm>
        </p:spPr>
        <p:txBody>
          <a:bodyPr>
            <a:normAutofit fontScale="90000"/>
          </a:bodyPr>
          <a:lstStyle/>
          <a:p>
            <a:r>
              <a:rPr lang="en-US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US" sz="8800" b="1" dirty="0">
                <a:solidFill>
                  <a:schemeClr val="accent2"/>
                </a:solidFill>
              </a:rPr>
            </a:b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>
                <a:latin typeface="Calibri" panose="020F0502020204030204"/>
              </a:rPr>
              <a:t>5</a:t>
            </a:fld>
            <a:endParaRPr lang="de-AT">
              <a:latin typeface="Calibri" panose="020F050202020403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1114902"/>
            <a:ext cx="1946788" cy="57022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06203" y="2105502"/>
            <a:ext cx="11099788" cy="589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US" alt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948705" y="2262881"/>
            <a:ext cx="1043709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 HD diagnosis relies on centralized systems that limit collaboration and compromise patient privacy.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no unified, privacy-preserving framework combining Federated Learning and Agentic AI to integrate MRI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3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clinical data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accurate detection and severity classification.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48198" y="207767"/>
            <a:ext cx="10871200" cy="9906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>
                <a:latin typeface="Calibri" panose="020F0502020204030204"/>
              </a:rPr>
              <a:t>6</a:t>
            </a:fld>
            <a:endParaRPr lang="de-AT">
              <a:latin typeface="Calibri" panose="020F050202020403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1114902"/>
            <a:ext cx="1946788" cy="570226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27" y="1399862"/>
            <a:ext cx="11779973" cy="525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286496" y="3182727"/>
            <a:ext cx="6285016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privacy-preserving AI framework for early  Huntington’s Disease identification across hospitals using MRI and clinical data via Federated Learning.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CNN, Transformer, and Agentic AI systems to enhance image and symptom analysis, automate training, ensure data quality, and support collaboration.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652827" y="1847462"/>
            <a:ext cx="1163782" cy="439387"/>
          </a:xfrm>
          <a:prstGeom prst="rect">
            <a:avLst/>
          </a:prstGeom>
          <a:solidFill>
            <a:srgbClr val="1B6A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>
                <a:latin typeface="Calibri" panose="020F0502020204030204"/>
              </a:rPr>
              <a:t>7</a:t>
            </a:fld>
            <a:endParaRPr lang="de-AT">
              <a:latin typeface="Calibri" panose="020F0502020204030204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1114902"/>
            <a:ext cx="1946788" cy="570226"/>
          </a:xfrm>
          <a:prstGeom prst="rect">
            <a:avLst/>
          </a:prstGeom>
        </p:spPr>
      </p:pic>
      <p:sp>
        <p:nvSpPr>
          <p:cNvPr id="11" name="Title 1"/>
          <p:cNvSpPr txBox="1"/>
          <p:nvPr/>
        </p:nvSpPr>
        <p:spPr>
          <a:xfrm>
            <a:off x="761302" y="232774"/>
            <a:ext cx="10302576" cy="9906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Questions</a:t>
            </a:r>
          </a:p>
        </p:txBody>
      </p:sp>
      <p:sp>
        <p:nvSpPr>
          <p:cNvPr id="2" name="Title 1"/>
          <p:cNvSpPr>
            <a:spLocks noGrp="1" noChangeArrowheads="1"/>
          </p:cNvSpPr>
          <p:nvPr>
            <p:ph type="title"/>
          </p:nvPr>
        </p:nvSpPr>
        <p:spPr bwMode="auto">
          <a:xfrm>
            <a:off x="1585259" y="2322252"/>
            <a:ext cx="8244541" cy="335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algn="just"/>
            <a:br>
              <a:rPr lang="en-US" sz="2000" b="1" dirty="0"/>
            </a:b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RQ1: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we are applying an AI-based approach on Huntington’s Disease for severity?</a:t>
            </a:r>
            <a:b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RQ2: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we are applying a hybrid framework for Agentic AI and Federated Learning of classification on Huntington’s Disease?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48198" y="207767"/>
            <a:ext cx="10871200" cy="9906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>
                <a:latin typeface="Calibri" panose="020F0502020204030204"/>
              </a:rPr>
              <a:t>8</a:t>
            </a:fld>
            <a:endParaRPr lang="de-AT">
              <a:latin typeface="Calibri" panose="020F050202020403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8049" y="987109"/>
            <a:ext cx="1946788" cy="570226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468437"/>
              </p:ext>
            </p:extLst>
          </p:nvPr>
        </p:nvGraphicFramePr>
        <p:xfrm>
          <a:off x="383540" y="1631189"/>
          <a:ext cx="11530940" cy="327215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3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7856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2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kumimoji="0"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Huntington's Disease: A Report of an Interesting Case and Literature Review</a:t>
                      </a:r>
                      <a:endParaRPr lang="en-US" sz="1800" b="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marR="0" indent="-34290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MRI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FL integration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limited scope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Results cannot be generalized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223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kumimoji="0"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Optimizing and benchmarking the computation of the permanent of general matrices</a:t>
                      </a:r>
                      <a:endParaRPr lang="en-US" sz="1800" b="0" kern="1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marL="285750" marR="0" indent="-28575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AgentBench-2 Framework (Planner–Executor Architecture)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applied to Huntington’s Disease or healthcare problems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marL="285750" marR="0" indent="-28575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Lacks biomedical or practical application relevance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31369"/>
              </p:ext>
            </p:extLst>
          </p:nvPr>
        </p:nvGraphicFramePr>
        <p:xfrm>
          <a:off x="386080" y="4903346"/>
          <a:ext cx="11530940" cy="15271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74112">
                  <a:extLst>
                    <a:ext uri="{9D8B030D-6E8A-4147-A177-3AD203B41FA5}">
                      <a16:colId xmlns:a16="http://schemas.microsoft.com/office/drawing/2014/main" val="1586730407"/>
                    </a:ext>
                  </a:extLst>
                </a:gridCol>
                <a:gridCol w="3940533">
                  <a:extLst>
                    <a:ext uri="{9D8B030D-6E8A-4147-A177-3AD203B41FA5}">
                      <a16:colId xmlns:a16="http://schemas.microsoft.com/office/drawing/2014/main" val="1834931754"/>
                    </a:ext>
                  </a:extLst>
                </a:gridCol>
                <a:gridCol w="2493135">
                  <a:extLst>
                    <a:ext uri="{9D8B030D-6E8A-4147-A177-3AD203B41FA5}">
                      <a16:colId xmlns:a16="http://schemas.microsoft.com/office/drawing/2014/main" val="1131402688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469351661"/>
                    </a:ext>
                  </a:extLst>
                </a:gridCol>
              </a:tblGrid>
              <a:tr h="152711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kumimoji="0"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Privacy-Preserving Diabetes &amp; Heart Disease Prediction </a:t>
                      </a:r>
                      <a:endParaRPr lang="en-US" sz="1800" b="0" i="0" kern="1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marR="0" indent="-28575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, MLP, Gradient Boost , </a:t>
                      </a:r>
                      <a:r>
                        <a:rPr lang="en-US" sz="18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AdaBoost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Lacked privacy in centralized models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lvl="0" algn="ctr" rtl="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Limited variety and real-world diversity</a:t>
                      </a:r>
                      <a:endParaRPr lang="en-US" sz="1800" b="0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82109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48198" y="207767"/>
            <a:ext cx="10871200" cy="9906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(Cont.)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>
                <a:latin typeface="Calibri" panose="020F0502020204030204"/>
              </a:rPr>
              <a:t>9</a:t>
            </a:fld>
            <a:endParaRPr lang="de-AT">
              <a:latin typeface="Calibri" panose="020F050202020403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950182"/>
            <a:ext cx="1946788" cy="570226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604866"/>
              </p:ext>
            </p:extLst>
          </p:nvPr>
        </p:nvGraphicFramePr>
        <p:xfrm>
          <a:off x="448198" y="2111848"/>
          <a:ext cx="11013870" cy="36590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78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9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5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00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7497"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algn="ctr"/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endParaRPr lang="en-US" sz="17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algn="ctr"/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algn="ctr"/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b="1" kern="1200">
                          <a:solidFill>
                            <a:schemeClr val="lt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algn="ctr"/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107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kumimoji="0"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Deep Learning Based Detection of Huntington’s Disease</a:t>
                      </a:r>
                      <a:endParaRPr lang="en-US" sz="1700" kern="1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indent="-34290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7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</a:t>
                      </a:r>
                      <a:endParaRPr lang="en-US" sz="17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Centralized, MRI-only approach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Lacks federated learning privacy</a:t>
                      </a:r>
                      <a:endParaRPr lang="en-US" sz="17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lvl="0" algn="l" rtl="0">
                        <a:buFont typeface="Arial" panose="020B0604020202020204" pitchFamily="34" charset="0"/>
                        <a:buChar char="•"/>
                      </a:pPr>
                      <a:r>
                        <a:rPr lang="en-US" sz="17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</a:t>
                      </a:r>
                      <a:r>
                        <a:rPr lang="en-US" sz="1700" b="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generalized</a:t>
                      </a:r>
                      <a:endParaRPr lang="en-US" sz="1700" b="0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045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kumimoji="0"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Machine learning in Huntington’s disease</a:t>
                      </a:r>
                      <a:r>
                        <a:rPr kumimoji="0" lang="en-US" sz="180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exploring the Enroll‑HD dataset for driving capability prediction</a:t>
                      </a:r>
                      <a:endParaRPr lang="en-US" sz="1700" kern="1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indent="-34290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7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 Gradient Boosting Machine</a:t>
                      </a:r>
                      <a:r>
                        <a:rPr lang="en-US" sz="1700" kern="10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17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indent="-34290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7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Gated Recurrent Unit</a:t>
                      </a:r>
                      <a:endParaRPr lang="en-US" sz="17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federated learning or agentive AI adaptation</a:t>
                      </a:r>
                      <a:endParaRPr lang="en-US" sz="17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marL="285750" marR="0" indent="-28575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 dependency on a single dataset; limited external validation</a:t>
                      </a:r>
                      <a:endParaRPr lang="en-US" sz="17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48198" y="207767"/>
            <a:ext cx="10871200" cy="990600"/>
          </a:xfrm>
        </p:spPr>
        <p:txBody>
          <a:bodyPr>
            <a:normAutofit/>
          </a:bodyPr>
          <a:lstStyle/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>
                <a:latin typeface="Calibri" panose="020F0502020204030204"/>
              </a:rPr>
              <a:t>10</a:t>
            </a:fld>
            <a:endParaRPr lang="de-AT">
              <a:latin typeface="Calibri" panose="020F050202020403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1114902"/>
            <a:ext cx="1946788" cy="570226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982722"/>
              </p:ext>
            </p:extLst>
          </p:nvPr>
        </p:nvGraphicFramePr>
        <p:xfrm>
          <a:off x="151259" y="1758983"/>
          <a:ext cx="10912619" cy="4988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371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7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3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2957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US" sz="2000" b="1" i="1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  <a:endParaRPr lang="en-US" sz="2000" b="1" i="1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mbria" panose="02040503050406030204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References</a:t>
                      </a:r>
                      <a:endParaRPr lang="en-US" sz="2000" b="1" i="1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7415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2025(</a:t>
                      </a:r>
                      <a:r>
                        <a:rPr kumimoji="0" lang="en-US" sz="2000" b="0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Privacy-Preserving Diabetes &amp; Heart Disease Prediction 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MLP, Gradient Boost, AdaBoost, 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(Dash et al.)</a:t>
                      </a:r>
                      <a:endParaRPr lang="en-US" sz="2000" kern="1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5793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2025(</a:t>
                      </a:r>
                      <a:r>
                        <a:rPr kumimoji="0" lang="en-US" sz="20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Huntington's Disease: A Report of an Interesting Case and Literature Review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MRI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(Aqel et al.)</a:t>
                      </a:r>
                      <a:endParaRPr lang="en-US" sz="20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988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2025(</a:t>
                      </a:r>
                      <a:r>
                        <a:rPr kumimoji="0" lang="en-US" sz="20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Optimizing and benchmarking the computation of the permanent of general matrices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AgentBench-2 Framework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kumimoji="0" lang="en-US" sz="2000" u="sng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/>
                        </a:rPr>
                        <a:t>Masscheleina</a:t>
                      </a:r>
                      <a:r>
                        <a:rPr kumimoji="0" lang="en-US" sz="2000" u="sng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/>
                        </a:rPr>
                        <a:t> et al.,</a:t>
                      </a:r>
                      <a:endParaRPr lang="en-US" sz="2000" kern="1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8725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2025(</a:t>
                      </a:r>
                      <a:r>
                        <a:rPr kumimoji="0" lang="en-US" sz="2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Deep Learning Based Detection of Huntington’s Disease</a:t>
                      </a:r>
                      <a:r>
                        <a:rPr kumimoji="0"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2000" kern="1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kumimoji="0" lang="en-US" sz="2000" u="sng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7"/>
                        </a:rPr>
                        <a:t>(K. Sangeetha et al., IJRPR,) </a:t>
                      </a:r>
                      <a:endParaRPr lang="en-US" sz="2000" kern="1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292785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053" y="228600"/>
            <a:ext cx="10302576" cy="9906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Dataset and Tools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1114902"/>
            <a:ext cx="1946788" cy="570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1060" y="2037715"/>
            <a:ext cx="11176000" cy="2830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Frameworks: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 Platform: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Flower, TensorFlow Federated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GitHub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on Dataset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77686" y="199228"/>
            <a:ext cx="10871200" cy="9906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>
                <a:latin typeface="Calibri" panose="020F0502020204030204"/>
              </a:rPr>
              <a:t>12</a:t>
            </a:fld>
            <a:endParaRPr lang="de-AT">
              <a:latin typeface="Calibri" panose="020F050202020403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1114902"/>
            <a:ext cx="1946788" cy="57022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85788" y="2105502"/>
            <a:ext cx="9204696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CNN for MRI analysis and Transformer models for clinical data.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models together without sharing raw data.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Agentic AI: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intelligent agents to manage communication, training, and data quality.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 model accuracy, sensitivity, and severity classification performance.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77686" y="199228"/>
            <a:ext cx="10871200" cy="9906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 (Cont.)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>
                <a:latin typeface="Calibri" panose="020F0502020204030204"/>
              </a:rPr>
              <a:t>13</a:t>
            </a:fld>
            <a:endParaRPr lang="de-AT">
              <a:latin typeface="Calibri" panose="020F050202020403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1114902"/>
            <a:ext cx="1946788" cy="5702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E97AB5-1433-C165-6E23-F5A9492C4A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8176" y="2089712"/>
            <a:ext cx="7789843" cy="365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789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>
                <a:latin typeface="Calibri" panose="020F0502020204030204"/>
              </a:rPr>
              <a:t>14</a:t>
            </a:fld>
            <a:endParaRPr lang="de-AT">
              <a:latin typeface="Calibri" panose="020F0502020204030204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1114902"/>
            <a:ext cx="1946788" cy="570226"/>
          </a:xfrm>
          <a:prstGeom prst="rect">
            <a:avLst/>
          </a:prstGeom>
        </p:spPr>
      </p:pic>
      <p:sp>
        <p:nvSpPr>
          <p:cNvPr id="8" name="Title 1"/>
          <p:cNvSpPr txBox="1"/>
          <p:nvPr/>
        </p:nvSpPr>
        <p:spPr>
          <a:xfrm>
            <a:off x="711200" y="233710"/>
            <a:ext cx="10302576" cy="9906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Cambria" panose="02040503050406030204"/>
                <a:ea typeface="Cambria" panose="02040503050406030204"/>
              </a:rPr>
              <a:t>Contribution</a:t>
            </a:r>
            <a:endParaRPr lang="en-US" dirty="0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504825" y="1907599"/>
            <a:ext cx="11532447" cy="3969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 eaLnBrk="0" fontAlgn="base" hangingPunct="0">
              <a:spcAft>
                <a:spcPct val="0"/>
              </a:spcAft>
              <a:buFont typeface="Wingdings" panose="05000000000000000000" charset="0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Hybrid Model: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Integrates CNN and Transformer architectures to accurately detect and grade Huntington’s Disease severity from MRI and clinical inputs.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nables a unified analysis of imaging and clinical features, enhancing diagnostic precision and supporting more reliable assessment of disease progression.</a:t>
            </a:r>
            <a:br>
              <a:rPr lang="en-US" sz="2800" dirty="0"/>
            </a:b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>
                <a:latin typeface="Calibri" panose="020F0502020204030204"/>
              </a:rPr>
              <a:t>15</a:t>
            </a:fld>
            <a:endParaRPr lang="de-AT">
              <a:latin typeface="Calibri" panose="020F050202020403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1114902"/>
            <a:ext cx="1946788" cy="570226"/>
          </a:xfrm>
          <a:prstGeom prst="rect">
            <a:avLst/>
          </a:prstGeom>
        </p:spPr>
      </p:pic>
      <p:sp>
        <p:nvSpPr>
          <p:cNvPr id="10" name="Title 3"/>
          <p:cNvSpPr txBox="1"/>
          <p:nvPr/>
        </p:nvSpPr>
        <p:spPr>
          <a:xfrm>
            <a:off x="600598" y="360167"/>
            <a:ext cx="10871200" cy="9906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>
                <a:latin typeface="Cambria" panose="02040503050406030204"/>
                <a:ea typeface="Cambria" panose="02040503050406030204"/>
              </a:rPr>
              <a:t>Future Work</a:t>
            </a:r>
            <a:endParaRPr lang="en-US" sz="4000" dirty="0"/>
          </a:p>
        </p:txBody>
      </p:sp>
      <p:sp>
        <p:nvSpPr>
          <p:cNvPr id="11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993754" y="2647114"/>
            <a:ext cx="10204491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systems could integrate </a:t>
            </a:r>
            <a:r>
              <a:rPr kumimoji="0" lang="en-US" altLang="en-US" sz="32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patient data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 wearable sensors, or IoT-enabled health monitors to continuously assess symptoms and disease progression.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48198" y="207767"/>
            <a:ext cx="10871200" cy="9906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References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>
                <a:latin typeface="Calibri" panose="020F0502020204030204"/>
              </a:rPr>
              <a:t>16</a:t>
            </a:fld>
            <a:endParaRPr lang="de-AT">
              <a:latin typeface="Calibri" panose="020F050202020403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1114902"/>
            <a:ext cx="1946788" cy="570226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17563" y="3546634"/>
          <a:ext cx="10871200" cy="229362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08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2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11200" y="1691311"/>
            <a:ext cx="1087120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1] </a:t>
            </a:r>
            <a:r>
              <a:rPr lang="en-US" sz="20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A. Maria </a:t>
            </a:r>
            <a:r>
              <a:rPr lang="en-US" sz="20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T˘aut¸an</a:t>
            </a:r>
            <a:r>
              <a:rPr lang="en-US" sz="20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B. </a:t>
            </a:r>
            <a:r>
              <a:rPr lang="en-US" sz="20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Ionescu</a:t>
            </a:r>
            <a:r>
              <a:rPr lang="en-US" sz="20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E. </a:t>
            </a:r>
            <a:r>
              <a:rPr lang="en-US" sz="20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Santarnecchi</a:t>
            </a:r>
            <a:r>
              <a:rPr lang="en-US" sz="20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"Artificial intelligence in neurodegenerative diseases: A review of available tools with a focus on machine learning techniques," 2021.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L. M. Abu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Zohair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Zantout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Vallejo, M.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Azher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Uddin and A. Mahmoud, "Artificial intelligence and machine learning for the diagnosis of Huntington disease: a narrative review," 2025.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r>
              <a:rPr lang="en-US" dirty="0"/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Masscheleina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Richerb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P. W.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Ayersa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"Optimizing and benchmarking the computation of the permanent of general matrices," 2025.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K. Sangeetha, S.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Poorniammal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Suvitha and C. Nandhini, "Deep Learning Based Detection of Huntington’s Disease Using Convolutional Neural Networks," 2025.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K. Sharma, A. Aram, Y.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Polaka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V. Pandian, "Huntington's Disease: A Report of an Interesting Case and Literature Review," 2024.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J. Ouwerkerk, S.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Feleus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 F. van der Zwaan, S. T. Y. Li, M.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W. M. C. Roon‑Mom, K. J. Wolstencroft and E. Mina, "Machine learning in Huntington’s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disease:exploring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Enroll‑HD dataset for prognosis and driving capability prediction," 2023.</a:t>
            </a:r>
          </a:p>
          <a:p>
            <a:endParaRPr lang="en-US" dirty="0"/>
          </a:p>
          <a:p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>
                <a:latin typeface="Calibri" panose="020F0502020204030204"/>
              </a:rPr>
              <a:t>17</a:t>
            </a:fld>
            <a:endParaRPr lang="de-AT">
              <a:latin typeface="Calibri" panose="020F0502020204030204"/>
            </a:endParaRPr>
          </a:p>
        </p:txBody>
      </p:sp>
      <p:sp>
        <p:nvSpPr>
          <p:cNvPr id="6" name="Rectangle 1"/>
          <p:cNvSpPr/>
          <p:nvPr/>
        </p:nvSpPr>
        <p:spPr bwMode="auto">
          <a:xfrm>
            <a:off x="2658137" y="3169833"/>
            <a:ext cx="605272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6000" b="1" dirty="0">
                <a:latin typeface="Cambria" panose="02040503050406030204"/>
                <a:ea typeface="Calibri" panose="020F0502020204030204"/>
                <a:cs typeface="TimesNewRoman" charset="0"/>
              </a:rPr>
              <a:t>THANK YOU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1114902"/>
            <a:ext cx="1946788" cy="570226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800</TotalTime>
  <Words>1033</Words>
  <Application>Microsoft Office PowerPoint</Application>
  <PresentationFormat>Widescreen</PresentationFormat>
  <Paragraphs>143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Cambria</vt:lpstr>
      <vt:lpstr>Times New Roman</vt:lpstr>
      <vt:lpstr>Wingdings</vt:lpstr>
      <vt:lpstr>Wingdings 2</vt:lpstr>
      <vt:lpstr>Median</vt:lpstr>
      <vt:lpstr>PowerPoint Presentation</vt:lpstr>
      <vt:lpstr>Table of Content</vt:lpstr>
      <vt:lpstr> Introduction</vt:lpstr>
      <vt:lpstr> Introduction (Cont.)</vt:lpstr>
      <vt:lpstr>Problem Statement </vt:lpstr>
      <vt:lpstr>Objectives</vt:lpstr>
      <vt:lpstr> RQ1: How we are applying an AI-based approach on Huntington’s Disease for severity?  RQ2: Why we are applying a hybrid framework for Agentic AI and Federated Learning of classification on Huntington’s Disease?</vt:lpstr>
      <vt:lpstr>Literature Review</vt:lpstr>
      <vt:lpstr>Literature Review (Cont.)</vt:lpstr>
      <vt:lpstr>Research Gap</vt:lpstr>
      <vt:lpstr>Dataset and Tools</vt:lpstr>
      <vt:lpstr>Proposed Methodology</vt:lpstr>
      <vt:lpstr>Proposed Methodology (Cont.)</vt:lpstr>
      <vt:lpstr> Hybrid Model: Integrates CNN and Transformer architectures to accurately detect and grade Huntington’s Disease severity from MRI and clinical inputs.   Enables a unified analysis of imaging and clinical features, enhancing diagnostic precision and supporting more reliable assessment of disease progression.  </vt:lpstr>
      <vt:lpstr>Future systems could integrate real-time patient data from wearable sensors, or IoT-enabled health monitors to continuously assess symptoms and disease progression. 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CUI</dc:creator>
  <cp:lastModifiedBy>hp</cp:lastModifiedBy>
  <cp:revision>2820</cp:revision>
  <dcterms:created xsi:type="dcterms:W3CDTF">1900-01-01T00:00:00Z</dcterms:created>
  <dcterms:modified xsi:type="dcterms:W3CDTF">2025-10-30T03:45:14Z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F7BBEC4E150D4E3BA8BD8579CCCBF490_12</vt:lpwstr>
  </property>
  <property fmtid="{D5CDD505-2E9C-101B-9397-08002B2CF9AE}" pid="3" name="KSOProductBuildVer">
    <vt:lpwstr>1033-12.2.0.23131</vt:lpwstr>
  </property>
</Properties>
</file>